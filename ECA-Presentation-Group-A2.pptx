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16"/>
  </p:notesMasterIdLst>
  <p:sldIdLst>
    <p:sldId id="256" r:id="rId2"/>
    <p:sldId id="272" r:id="rId3"/>
    <p:sldId id="257" r:id="rId4"/>
    <p:sldId id="266" r:id="rId5"/>
    <p:sldId id="259" r:id="rId6"/>
    <p:sldId id="267" r:id="rId7"/>
    <p:sldId id="263" r:id="rId8"/>
    <p:sldId id="260" r:id="rId9"/>
    <p:sldId id="261" r:id="rId10"/>
    <p:sldId id="271" r:id="rId11"/>
    <p:sldId id="264" r:id="rId12"/>
    <p:sldId id="262" r:id="rId13"/>
    <p:sldId id="268"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51E69A-C336-4C8B-9DAD-390F6B074BF0}" type="datetimeFigureOut">
              <a:rPr lang="en-US" smtClean="0"/>
              <a:t>5/1/2025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34C3F8-81E4-4EE5-91D8-82C73D24CB5D}" type="slidenum">
              <a:rPr lang="en-US" smtClean="0"/>
              <a:t>‹#›</a:t>
            </a:fld>
            <a:endParaRPr lang="en-US"/>
          </a:p>
        </p:txBody>
      </p:sp>
    </p:spTree>
    <p:extLst>
      <p:ext uri="{BB962C8B-B14F-4D97-AF65-F5344CB8AC3E}">
        <p14:creationId xmlns:p14="http://schemas.microsoft.com/office/powerpoint/2010/main" val="3328460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34C3F8-81E4-4EE5-91D8-82C73D24CB5D}" type="slidenum">
              <a:rPr lang="en-US" smtClean="0"/>
              <a:t>9</a:t>
            </a:fld>
            <a:endParaRPr lang="en-US"/>
          </a:p>
        </p:txBody>
      </p:sp>
    </p:spTree>
    <p:extLst>
      <p:ext uri="{BB962C8B-B14F-4D97-AF65-F5344CB8AC3E}">
        <p14:creationId xmlns:p14="http://schemas.microsoft.com/office/powerpoint/2010/main" val="2780157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34C3F8-81E4-4EE5-91D8-82C73D24CB5D}" type="slidenum">
              <a:rPr lang="en-US" smtClean="0"/>
              <a:t>11</a:t>
            </a:fld>
            <a:endParaRPr lang="en-US"/>
          </a:p>
        </p:txBody>
      </p:sp>
    </p:spTree>
    <p:extLst>
      <p:ext uri="{BB962C8B-B14F-4D97-AF65-F5344CB8AC3E}">
        <p14:creationId xmlns:p14="http://schemas.microsoft.com/office/powerpoint/2010/main" val="939761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6843" y="3887812"/>
            <a:ext cx="1219566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p:cNvSpPr/>
          <p:nvPr/>
        </p:nvSpPr>
        <p:spPr>
          <a:xfrm>
            <a:off x="-6843" y="2059012"/>
            <a:ext cx="12195668" cy="182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72440" y="2194560"/>
            <a:ext cx="11247120" cy="1739347"/>
          </a:xfrm>
        </p:spPr>
        <p:txBody>
          <a:bodyPr tIns="45720" bIns="45720" anchor="ctr">
            <a:normAutofit/>
          </a:bodyPr>
          <a:lstStyle>
            <a:lvl1pPr algn="ctr">
              <a:lnSpc>
                <a:spcPct val="80000"/>
              </a:lnSpc>
              <a:defRPr sz="6000" spc="15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342900" y="3915938"/>
            <a:ext cx="11506200" cy="457200"/>
          </a:xfrm>
        </p:spPr>
        <p:txBody>
          <a:bodyPr>
            <a:normAutofit/>
          </a:bodyPr>
          <a:lstStyle>
            <a:lvl1pPr marL="0" indent="0" algn="ctr">
              <a:buNone/>
              <a:defRPr sz="2000">
                <a:solidFill>
                  <a:srgbClr val="FFFFFF"/>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920949E9-B403-49DD-8223-9ED4B79048B9}" type="datetime1">
              <a:rPr lang="en-US" smtClean="0"/>
              <a:t>5/1/2025</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D34EA82-3CFF-4AE1-A06A-DB5BBD6A65B6}" type="slidenum">
              <a:rPr lang="en-US" smtClean="0"/>
              <a:t>‹#›</a:t>
            </a:fld>
            <a:endParaRPr lang="en-US"/>
          </a:p>
        </p:txBody>
      </p:sp>
    </p:spTree>
    <p:extLst>
      <p:ext uri="{BB962C8B-B14F-4D97-AF65-F5344CB8AC3E}">
        <p14:creationId xmlns:p14="http://schemas.microsoft.com/office/powerpoint/2010/main" val="3798602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3B770C-548C-458A-B099-A18E5D866B1D}" type="datetime1">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34EA82-3CFF-4AE1-A06A-DB5BBD6A65B6}" type="slidenum">
              <a:rPr lang="en-US" smtClean="0"/>
              <a:t>‹#›</a:t>
            </a:fld>
            <a:endParaRPr lang="en-US"/>
          </a:p>
        </p:txBody>
      </p:sp>
    </p:spTree>
    <p:extLst>
      <p:ext uri="{BB962C8B-B14F-4D97-AF65-F5344CB8AC3E}">
        <p14:creationId xmlns:p14="http://schemas.microsoft.com/office/powerpoint/2010/main" val="399602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43" y="3887812"/>
            <a:ext cx="1219566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75488" y="2194560"/>
            <a:ext cx="11247120" cy="1737360"/>
          </a:xfrm>
        </p:spPr>
        <p:txBody>
          <a:bodyPr anchor="ctr">
            <a:noAutofit/>
          </a:bodyPr>
          <a:lstStyle>
            <a:lvl1pPr algn="ctr">
              <a:lnSpc>
                <a:spcPct val="80000"/>
              </a:lnSpc>
              <a:defRPr sz="6000" b="0" spc="150" baseline="0">
                <a:solidFill>
                  <a:srgbClr val="FFFF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47472" y="3911827"/>
            <a:ext cx="11503152" cy="457200"/>
          </a:xfrm>
        </p:spPr>
        <p:txBody>
          <a:bodyPr anchor="t">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fld id="{A6DC9042-8DAC-418A-AF29-7E945CA2545A}" type="datetime1">
              <a:rPr lang="en-US" smtClean="0"/>
              <a:t>5/1/2025</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D34EA82-3CFF-4AE1-A06A-DB5BBD6A65B6}" type="slidenum">
              <a:rPr lang="en-US" smtClean="0"/>
              <a:t>‹#›</a:t>
            </a:fld>
            <a:endParaRPr lang="en-US"/>
          </a:p>
        </p:txBody>
      </p:sp>
    </p:spTree>
    <p:extLst>
      <p:ext uri="{BB962C8B-B14F-4D97-AF65-F5344CB8AC3E}">
        <p14:creationId xmlns:p14="http://schemas.microsoft.com/office/powerpoint/2010/main" val="991511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322EA9-4DE9-4DFF-8CDD-F0BF331200C3}" type="datetime1">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34EA82-3CFF-4AE1-A06A-DB5BBD6A65B6}" type="slidenum">
              <a:rPr lang="en-US" smtClean="0"/>
              <a:t>‹#›</a:t>
            </a:fld>
            <a:endParaRPr lang="en-US"/>
          </a:p>
        </p:txBody>
      </p:sp>
    </p:spTree>
    <p:extLst>
      <p:ext uri="{BB962C8B-B14F-4D97-AF65-F5344CB8AC3E}">
        <p14:creationId xmlns:p14="http://schemas.microsoft.com/office/powerpoint/2010/main" val="1545212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7966C0-942D-4872-B358-BF4F34BC0023}" type="datetime1">
              <a:rPr lang="en-US" smtClean="0"/>
              <a:t>5/1/2025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34EA82-3CFF-4AE1-A06A-DB5BBD6A65B6}" type="slidenum">
              <a:rPr lang="en-US" smtClean="0"/>
              <a:t>‹#›</a:t>
            </a:fld>
            <a:endParaRPr lang="en-US"/>
          </a:p>
        </p:txBody>
      </p:sp>
    </p:spTree>
    <p:extLst>
      <p:ext uri="{BB962C8B-B14F-4D97-AF65-F5344CB8AC3E}">
        <p14:creationId xmlns:p14="http://schemas.microsoft.com/office/powerpoint/2010/main" val="355202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1A99C2-2CD1-419E-B623-1BE6470FFA02}" type="datetime1">
              <a:rPr lang="en-US" smtClean="0"/>
              <a:t>5/1/2025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34EA82-3CFF-4AE1-A06A-DB5BBD6A65B6}" type="slidenum">
              <a:rPr lang="en-US" smtClean="0"/>
              <a:t>‹#›</a:t>
            </a:fld>
            <a:endParaRPr lang="en-US"/>
          </a:p>
        </p:txBody>
      </p:sp>
    </p:spTree>
    <p:extLst>
      <p:ext uri="{BB962C8B-B14F-4D97-AF65-F5344CB8AC3E}">
        <p14:creationId xmlns:p14="http://schemas.microsoft.com/office/powerpoint/2010/main" val="4083631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6E2245-645A-4B39-86C8-B520EF9B7AAF}" type="datetime1">
              <a:rPr lang="en-US" smtClean="0"/>
              <a:t>5/1/2025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34EA82-3CFF-4AE1-A06A-DB5BBD6A65B6}" type="slidenum">
              <a:rPr lang="en-US" smtClean="0"/>
              <a:t>‹#›</a:t>
            </a:fld>
            <a:endParaRPr lang="en-US"/>
          </a:p>
        </p:txBody>
      </p:sp>
    </p:spTree>
    <p:extLst>
      <p:ext uri="{BB962C8B-B14F-4D97-AF65-F5344CB8AC3E}">
        <p14:creationId xmlns:p14="http://schemas.microsoft.com/office/powerpoint/2010/main" val="2744758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12D972-0EE8-46C1-8FF8-C979A5A32DFD}" type="datetime1">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34EA82-3CFF-4AE1-A06A-DB5BBD6A65B6}" type="slidenum">
              <a:rPr lang="en-US" smtClean="0"/>
              <a:t>‹#›</a:t>
            </a:fld>
            <a:endParaRPr lang="en-US"/>
          </a:p>
        </p:txBody>
      </p:sp>
    </p:spTree>
    <p:extLst>
      <p:ext uri="{BB962C8B-B14F-4D97-AF65-F5344CB8AC3E}">
        <p14:creationId xmlns:p14="http://schemas.microsoft.com/office/powerpoint/2010/main" val="3053096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8DE810-5147-464B-B931-A4B2F8367BA0}" type="datetime1">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34EA82-3CFF-4AE1-A06A-DB5BBD6A65B6}" type="slidenum">
              <a:rPr lang="en-US" smtClean="0"/>
              <a:t>‹#›</a:t>
            </a:fld>
            <a:endParaRPr lang="en-US"/>
          </a:p>
        </p:txBody>
      </p:sp>
    </p:spTree>
    <p:extLst>
      <p:ext uri="{BB962C8B-B14F-4D97-AF65-F5344CB8AC3E}">
        <p14:creationId xmlns:p14="http://schemas.microsoft.com/office/powerpoint/2010/main" val="52555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CF7975-60DA-4CED-A83B-45E3D0168BDC}" type="datetime1">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34EA82-3CFF-4AE1-A06A-DB5BBD6A65B6}" type="slidenum">
              <a:rPr lang="en-US" smtClean="0"/>
              <a:t>‹#›</a:t>
            </a:fld>
            <a:endParaRPr lang="en-US"/>
          </a:p>
        </p:txBody>
      </p:sp>
    </p:spTree>
    <p:extLst>
      <p:ext uri="{BB962C8B-B14F-4D97-AF65-F5344CB8AC3E}">
        <p14:creationId xmlns:p14="http://schemas.microsoft.com/office/powerpoint/2010/main" val="3835398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68D4B66A-497B-4F02-954B-4AE45403706D}" type="datetime1">
              <a:rPr lang="en-US" smtClean="0"/>
              <a:t>5/1/2025</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DD34EA82-3CFF-4AE1-A06A-DB5BBD6A65B6}" type="slidenum">
              <a:rPr lang="en-US" smtClean="0"/>
              <a:t>‹#›</a:t>
            </a:fld>
            <a:endParaRPr lang="en-US"/>
          </a:p>
        </p:txBody>
      </p:sp>
    </p:spTree>
    <p:extLst>
      <p:ext uri="{BB962C8B-B14F-4D97-AF65-F5344CB8AC3E}">
        <p14:creationId xmlns:p14="http://schemas.microsoft.com/office/powerpoint/2010/main" val="1222865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68E037E4-8486-44E7-BB48-649E23B88979}" type="datetime1">
              <a:rPr lang="en-US" smtClean="0"/>
              <a:t>5/1/2025</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DD34EA82-3CFF-4AE1-A06A-DB5BBD6A65B6}" type="slidenum">
              <a:rPr lang="en-US" smtClean="0"/>
              <a:t>‹#›</a:t>
            </a:fld>
            <a:endParaRPr lang="en-US"/>
          </a:p>
        </p:txBody>
      </p:sp>
    </p:spTree>
    <p:extLst>
      <p:ext uri="{BB962C8B-B14F-4D97-AF65-F5344CB8AC3E}">
        <p14:creationId xmlns:p14="http://schemas.microsoft.com/office/powerpoint/2010/main" val="2685170456"/>
      </p:ext>
    </p:extLst>
  </p:cSld>
  <p:clrMap bg1="dk1" tx1="lt1" bg2="dk2" tx2="lt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hf hdr="0" ftr="0" dt="0"/>
  <p:txStyles>
    <p:titleStyle>
      <a:lvl1pPr algn="l" defTabSz="914400" rtl="0" eaLnBrk="1" latinLnBrk="0" hangingPunct="1">
        <a:lnSpc>
          <a:spcPct val="85000"/>
        </a:lnSpc>
        <a:spcBef>
          <a:spcPct val="0"/>
        </a:spcBef>
        <a:buNone/>
        <a:defRPr sz="4000" kern="1200" cap="all"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Arial Rounded MT Bold" panose="020F0704030504030204" pitchFamily="34" charset="0"/>
              </a:rPr>
              <a:t>Density Based Traffic </a:t>
            </a:r>
            <a:r>
              <a:rPr lang="en-US">
                <a:latin typeface="Arial Rounded MT Bold" panose="020F0704030504030204" pitchFamily="34" charset="0"/>
              </a:rPr>
              <a:t>Signal Controller</a:t>
            </a:r>
            <a:endParaRPr lang="en-US" dirty="0">
              <a:latin typeface="Arial Rounded MT Bold" panose="020F0704030504030204" pitchFamily="34" charset="0"/>
            </a:endParaRPr>
          </a:p>
        </p:txBody>
      </p:sp>
      <p:sp>
        <p:nvSpPr>
          <p:cNvPr id="3" name="Subtitle 2"/>
          <p:cNvSpPr>
            <a:spLocks noGrp="1"/>
          </p:cNvSpPr>
          <p:nvPr>
            <p:ph type="subTitle" idx="1"/>
          </p:nvPr>
        </p:nvSpPr>
        <p:spPr/>
        <p:txBody>
          <a:bodyPr>
            <a:normAutofit/>
          </a:bodyPr>
          <a:lstStyle/>
          <a:p>
            <a:r>
              <a:rPr lang="en-US" sz="2400" b="1" dirty="0">
                <a:latin typeface="Bahnschrift SemiBold SemiConden" panose="020B0502040204020203" pitchFamily="34" charset="0"/>
              </a:rPr>
              <a:t>ECA Project Presentation</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sp>
        <p:nvSpPr>
          <p:cNvPr id="5" name="Slide Number Placeholder 4"/>
          <p:cNvSpPr>
            <a:spLocks noGrp="1"/>
          </p:cNvSpPr>
          <p:nvPr>
            <p:ph type="sldNum" sz="quarter" idx="12"/>
          </p:nvPr>
        </p:nvSpPr>
        <p:spPr/>
        <p:txBody>
          <a:bodyPr/>
          <a:lstStyle/>
          <a:p>
            <a:fld id="{DD34EA82-3CFF-4AE1-A06A-DB5BBD6A65B6}" type="slidenum">
              <a:rPr lang="en-US" smtClean="0"/>
              <a:t>1</a:t>
            </a:fld>
            <a:endParaRPr lang="en-US"/>
          </a:p>
        </p:txBody>
      </p:sp>
      <p:sp>
        <p:nvSpPr>
          <p:cNvPr id="6" name="TextBox 5"/>
          <p:cNvSpPr txBox="1"/>
          <p:nvPr/>
        </p:nvSpPr>
        <p:spPr>
          <a:xfrm>
            <a:off x="0" y="4936331"/>
            <a:ext cx="5813946"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Department of Computer Science and Engineering (CSE)</a:t>
            </a:r>
          </a:p>
          <a:p>
            <a:r>
              <a:rPr lang="en-US" b="1" dirty="0">
                <a:latin typeface="Times New Roman" panose="02020603050405020304" pitchFamily="18" charset="0"/>
                <a:cs typeface="Times New Roman" panose="02020603050405020304" pitchFamily="18" charset="0"/>
              </a:rPr>
              <a:t>Faculty of Science and Technology (FST)</a:t>
            </a:r>
          </a:p>
          <a:p>
            <a:r>
              <a:rPr lang="en-US" b="1" dirty="0">
                <a:latin typeface="Times New Roman" panose="02020603050405020304" pitchFamily="18" charset="0"/>
                <a:cs typeface="Times New Roman" panose="02020603050405020304" pitchFamily="18" charset="0"/>
              </a:rPr>
              <a:t>Bangladesh University of Professionals (BUP)</a:t>
            </a:r>
          </a:p>
        </p:txBody>
      </p:sp>
      <p:sp>
        <p:nvSpPr>
          <p:cNvPr id="7" name="TextBox 6"/>
          <p:cNvSpPr txBox="1"/>
          <p:nvPr/>
        </p:nvSpPr>
        <p:spPr>
          <a:xfrm>
            <a:off x="8621165" y="4659332"/>
            <a:ext cx="3227935" cy="1477328"/>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Presented by:</a:t>
            </a:r>
          </a:p>
          <a:p>
            <a:r>
              <a:rPr lang="en-US" dirty="0" err="1">
                <a:latin typeface="Times New Roman" panose="02020603050405020304" pitchFamily="18" charset="0"/>
                <a:cs typeface="Times New Roman" panose="02020603050405020304" pitchFamily="18" charset="0"/>
              </a:rPr>
              <a:t>Jarin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Tasnim</a:t>
            </a:r>
            <a:r>
              <a:rPr lang="en-US" dirty="0">
                <a:latin typeface="Times New Roman" panose="02020603050405020304" pitchFamily="18" charset="0"/>
                <a:cs typeface="Times New Roman" panose="02020603050405020304" pitchFamily="18" charset="0"/>
              </a:rPr>
              <a:t> (2252421001)</a:t>
            </a:r>
          </a:p>
          <a:p>
            <a:r>
              <a:rPr lang="en-US" dirty="0">
                <a:latin typeface="Times New Roman" panose="02020603050405020304" pitchFamily="18" charset="0"/>
                <a:cs typeface="Times New Roman" panose="02020603050405020304" pitchFamily="18" charset="0"/>
              </a:rPr>
              <a:t>Rahbar-E-Tawsif (2252421057)</a:t>
            </a:r>
          </a:p>
          <a:p>
            <a:r>
              <a:rPr lang="en-US" dirty="0" err="1">
                <a:latin typeface="Times New Roman" panose="02020603050405020304" pitchFamily="18" charset="0"/>
                <a:cs typeface="Times New Roman" panose="02020603050405020304" pitchFamily="18" charset="0"/>
              </a:rPr>
              <a:t>Shahariar</a:t>
            </a:r>
            <a:r>
              <a:rPr lang="en-US" dirty="0">
                <a:latin typeface="Times New Roman" panose="02020603050405020304" pitchFamily="18" charset="0"/>
                <a:cs typeface="Times New Roman" panose="02020603050405020304" pitchFamily="18" charset="0"/>
              </a:rPr>
              <a:t> Hossain (2252421085)</a:t>
            </a:r>
          </a:p>
          <a:p>
            <a:r>
              <a:rPr lang="en-US" dirty="0" err="1">
                <a:latin typeface="Times New Roman" panose="02020603050405020304" pitchFamily="18" charset="0"/>
                <a:cs typeface="Times New Roman" panose="02020603050405020304" pitchFamily="18" charset="0"/>
              </a:rPr>
              <a:t>Shanjida</a:t>
            </a:r>
            <a:r>
              <a:rPr lang="en-US" dirty="0">
                <a:latin typeface="Times New Roman" panose="02020603050405020304" pitchFamily="18" charset="0"/>
                <a:cs typeface="Times New Roman" panose="02020603050405020304" pitchFamily="18" charset="0"/>
              </a:rPr>
              <a:t> Afrin (2252421087)</a:t>
            </a:r>
          </a:p>
        </p:txBody>
      </p:sp>
    </p:spTree>
    <p:extLst>
      <p:ext uri="{BB962C8B-B14F-4D97-AF65-F5344CB8AC3E}">
        <p14:creationId xmlns:p14="http://schemas.microsoft.com/office/powerpoint/2010/main" val="2808331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u="sng" dirty="0">
                <a:latin typeface="Times New Roman" panose="02020603050405020304" pitchFamily="18" charset="0"/>
                <a:cs typeface="Times New Roman" panose="02020603050405020304" pitchFamily="18" charset="0"/>
              </a:rPr>
              <a:t>contents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030893705"/>
              </p:ext>
            </p:extLst>
          </p:nvPr>
        </p:nvGraphicFramePr>
        <p:xfrm>
          <a:off x="1203325" y="2011363"/>
          <a:ext cx="9783764" cy="4184720"/>
        </p:xfrm>
        <a:graphic>
          <a:graphicData uri="http://schemas.openxmlformats.org/drawingml/2006/table">
            <a:tbl>
              <a:tblPr firstRow="1" bandRow="1">
                <a:tableStyleId>{69CF1AB2-1976-4502-BF36-3FF5EA218861}</a:tableStyleId>
              </a:tblPr>
              <a:tblGrid>
                <a:gridCol w="4891882">
                  <a:extLst>
                    <a:ext uri="{9D8B030D-6E8A-4147-A177-3AD203B41FA5}">
                      <a16:colId xmlns:a16="http://schemas.microsoft.com/office/drawing/2014/main" val="20000"/>
                    </a:ext>
                  </a:extLst>
                </a:gridCol>
                <a:gridCol w="4891882">
                  <a:extLst>
                    <a:ext uri="{9D8B030D-6E8A-4147-A177-3AD203B41FA5}">
                      <a16:colId xmlns:a16="http://schemas.microsoft.com/office/drawing/2014/main" val="20001"/>
                    </a:ext>
                  </a:extLst>
                </a:gridCol>
              </a:tblGrid>
              <a:tr h="523090">
                <a:tc>
                  <a:txBody>
                    <a:bodyPr/>
                    <a:lstStyle/>
                    <a:p>
                      <a:pPr algn="ctr"/>
                      <a:r>
                        <a:rPr lang="en-US" sz="2200" b="0" i="1" dirty="0">
                          <a:latin typeface="Times New Roman" panose="02020603050405020304" pitchFamily="18" charset="0"/>
                          <a:cs typeface="Times New Roman" panose="02020603050405020304" pitchFamily="18" charset="0"/>
                        </a:rPr>
                        <a:t>Introduction</a:t>
                      </a:r>
                    </a:p>
                  </a:txBody>
                  <a:tcPr/>
                </a:tc>
                <a:tc>
                  <a:txBody>
                    <a:bodyPr/>
                    <a:lstStyle/>
                    <a:p>
                      <a:pPr algn="ctr"/>
                      <a:r>
                        <a:rPr lang="en-US" sz="2200" b="0" i="1" baseline="0" dirty="0">
                          <a:latin typeface="Times New Roman" panose="02020603050405020304" pitchFamily="18" charset="0"/>
                          <a:cs typeface="Times New Roman" panose="02020603050405020304" pitchFamily="18" charset="0"/>
                        </a:rPr>
                        <a:t>0</a:t>
                      </a:r>
                      <a:r>
                        <a:rPr lang="en-US" sz="2200" b="0" i="1" dirty="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10000"/>
                  </a:ext>
                </a:extLst>
              </a:tr>
              <a:tr h="523090">
                <a:tc>
                  <a:txBody>
                    <a:bodyPr/>
                    <a:lstStyle/>
                    <a:p>
                      <a:pPr algn="ctr"/>
                      <a:r>
                        <a:rPr lang="en-US" sz="2200" b="0" i="1" dirty="0">
                          <a:latin typeface="Times New Roman" panose="02020603050405020304" pitchFamily="18" charset="0"/>
                          <a:cs typeface="Times New Roman" panose="02020603050405020304" pitchFamily="18" charset="0"/>
                        </a:rPr>
                        <a:t>Background Study</a:t>
                      </a:r>
                    </a:p>
                  </a:txBody>
                  <a:tcPr/>
                </a:tc>
                <a:tc>
                  <a:txBody>
                    <a:bodyPr/>
                    <a:lstStyle/>
                    <a:p>
                      <a:pPr algn="ctr"/>
                      <a:r>
                        <a:rPr lang="en-US" sz="2200" b="0" i="1" dirty="0">
                          <a:latin typeface="Times New Roman" panose="02020603050405020304" pitchFamily="18" charset="0"/>
                          <a:cs typeface="Times New Roman" panose="02020603050405020304" pitchFamily="18" charset="0"/>
                        </a:rPr>
                        <a:t>04-05</a:t>
                      </a:r>
                    </a:p>
                  </a:txBody>
                  <a:tcPr/>
                </a:tc>
                <a:extLst>
                  <a:ext uri="{0D108BD9-81ED-4DB2-BD59-A6C34878D82A}">
                    <a16:rowId xmlns:a16="http://schemas.microsoft.com/office/drawing/2014/main" val="10001"/>
                  </a:ext>
                </a:extLst>
              </a:tr>
              <a:tr h="523090">
                <a:tc>
                  <a:txBody>
                    <a:bodyPr/>
                    <a:lstStyle/>
                    <a:p>
                      <a:pPr algn="ctr"/>
                      <a:r>
                        <a:rPr lang="en-US" sz="2200" b="0" i="1" dirty="0">
                          <a:latin typeface="Times New Roman" panose="02020603050405020304" pitchFamily="18" charset="0"/>
                          <a:cs typeface="Times New Roman" panose="02020603050405020304" pitchFamily="18" charset="0"/>
                        </a:rPr>
                        <a:t>Research</a:t>
                      </a:r>
                      <a:r>
                        <a:rPr lang="en-US" sz="2200" b="0" i="1" baseline="0" dirty="0">
                          <a:latin typeface="Times New Roman" panose="02020603050405020304" pitchFamily="18" charset="0"/>
                          <a:cs typeface="Times New Roman" panose="02020603050405020304" pitchFamily="18" charset="0"/>
                        </a:rPr>
                        <a:t> Gap</a:t>
                      </a:r>
                      <a:endParaRPr lang="en-US" sz="2200" b="0" i="1" dirty="0">
                        <a:latin typeface="Times New Roman" panose="02020603050405020304" pitchFamily="18" charset="0"/>
                        <a:cs typeface="Times New Roman" panose="02020603050405020304" pitchFamily="18" charset="0"/>
                      </a:endParaRPr>
                    </a:p>
                  </a:txBody>
                  <a:tcPr/>
                </a:tc>
                <a:tc>
                  <a:txBody>
                    <a:bodyPr/>
                    <a:lstStyle/>
                    <a:p>
                      <a:pPr algn="ctr"/>
                      <a:r>
                        <a:rPr lang="en-US" sz="2200" b="0" i="1" dirty="0">
                          <a:latin typeface="Times New Roman" panose="02020603050405020304" pitchFamily="18" charset="0"/>
                          <a:cs typeface="Times New Roman" panose="02020603050405020304" pitchFamily="18" charset="0"/>
                        </a:rPr>
                        <a:t>06-07</a:t>
                      </a:r>
                    </a:p>
                  </a:txBody>
                  <a:tcPr/>
                </a:tc>
                <a:extLst>
                  <a:ext uri="{0D108BD9-81ED-4DB2-BD59-A6C34878D82A}">
                    <a16:rowId xmlns:a16="http://schemas.microsoft.com/office/drawing/2014/main" val="10002"/>
                  </a:ext>
                </a:extLst>
              </a:tr>
              <a:tr h="523090">
                <a:tc>
                  <a:txBody>
                    <a:bodyPr/>
                    <a:lstStyle/>
                    <a:p>
                      <a:pPr algn="ctr"/>
                      <a:r>
                        <a:rPr lang="en-US" sz="2200" b="0" i="1" dirty="0">
                          <a:latin typeface="Times New Roman" panose="02020603050405020304" pitchFamily="18" charset="0"/>
                          <a:cs typeface="Times New Roman" panose="02020603050405020304" pitchFamily="18" charset="0"/>
                        </a:rPr>
                        <a:t>Problem Statement</a:t>
                      </a:r>
                    </a:p>
                  </a:txBody>
                  <a:tcPr/>
                </a:tc>
                <a:tc>
                  <a:txBody>
                    <a:bodyPr/>
                    <a:lstStyle/>
                    <a:p>
                      <a:pPr algn="ctr"/>
                      <a:r>
                        <a:rPr lang="en-US" sz="2200" b="0" i="1" dirty="0">
                          <a:latin typeface="Times New Roman" panose="02020603050405020304" pitchFamily="18" charset="0"/>
                          <a:cs typeface="Times New Roman" panose="02020603050405020304" pitchFamily="18" charset="0"/>
                        </a:rPr>
                        <a:t>08</a:t>
                      </a:r>
                    </a:p>
                  </a:txBody>
                  <a:tcPr/>
                </a:tc>
                <a:extLst>
                  <a:ext uri="{0D108BD9-81ED-4DB2-BD59-A6C34878D82A}">
                    <a16:rowId xmlns:a16="http://schemas.microsoft.com/office/drawing/2014/main" val="10003"/>
                  </a:ext>
                </a:extLst>
              </a:tr>
              <a:tr h="523090">
                <a:tc>
                  <a:txBody>
                    <a:bodyPr/>
                    <a:lstStyle/>
                    <a:p>
                      <a:pPr algn="ctr"/>
                      <a:r>
                        <a:rPr lang="en-US" sz="2200" b="0" i="1" dirty="0">
                          <a:latin typeface="Times New Roman" panose="02020603050405020304" pitchFamily="18" charset="0"/>
                          <a:cs typeface="Times New Roman" panose="02020603050405020304" pitchFamily="18" charset="0"/>
                        </a:rPr>
                        <a:t>Objectives</a:t>
                      </a:r>
                    </a:p>
                  </a:txBody>
                  <a:tcPr/>
                </a:tc>
                <a:tc>
                  <a:txBody>
                    <a:bodyPr/>
                    <a:lstStyle/>
                    <a:p>
                      <a:pPr algn="ctr"/>
                      <a:r>
                        <a:rPr lang="en-US" sz="2200" b="0" i="1" dirty="0">
                          <a:latin typeface="Times New Roman" panose="02020603050405020304" pitchFamily="18" charset="0"/>
                          <a:cs typeface="Times New Roman" panose="02020603050405020304" pitchFamily="18" charset="0"/>
                        </a:rPr>
                        <a:t>09</a:t>
                      </a:r>
                    </a:p>
                  </a:txBody>
                  <a:tcPr/>
                </a:tc>
                <a:extLst>
                  <a:ext uri="{0D108BD9-81ED-4DB2-BD59-A6C34878D82A}">
                    <a16:rowId xmlns:a16="http://schemas.microsoft.com/office/drawing/2014/main" val="10004"/>
                  </a:ext>
                </a:extLst>
              </a:tr>
              <a:tr h="523090">
                <a:tc>
                  <a:txBody>
                    <a:bodyPr/>
                    <a:lstStyle/>
                    <a:p>
                      <a:pPr algn="ctr"/>
                      <a:r>
                        <a:rPr lang="en-US" sz="2200" b="0" i="1" dirty="0">
                          <a:latin typeface="Times New Roman" panose="02020603050405020304" pitchFamily="18" charset="0"/>
                          <a:cs typeface="Times New Roman" panose="02020603050405020304" pitchFamily="18" charset="0"/>
                        </a:rPr>
                        <a:t>Methodology</a:t>
                      </a:r>
                    </a:p>
                  </a:txBody>
                  <a:tcPr/>
                </a:tc>
                <a:tc>
                  <a:txBody>
                    <a:bodyPr/>
                    <a:lstStyle/>
                    <a:p>
                      <a:pPr algn="ctr"/>
                      <a:r>
                        <a:rPr lang="en-US" sz="2200" b="0" i="1" dirty="0">
                          <a:latin typeface="Times New Roman" panose="02020603050405020304" pitchFamily="18" charset="0"/>
                          <a:cs typeface="Times New Roman" panose="02020603050405020304" pitchFamily="18" charset="0"/>
                        </a:rPr>
                        <a:t>10-12</a:t>
                      </a:r>
                    </a:p>
                  </a:txBody>
                  <a:tcPr/>
                </a:tc>
                <a:extLst>
                  <a:ext uri="{0D108BD9-81ED-4DB2-BD59-A6C34878D82A}">
                    <a16:rowId xmlns:a16="http://schemas.microsoft.com/office/drawing/2014/main" val="10005"/>
                  </a:ext>
                </a:extLst>
              </a:tr>
              <a:tr h="523090">
                <a:tc>
                  <a:txBody>
                    <a:bodyPr/>
                    <a:lstStyle/>
                    <a:p>
                      <a:pPr algn="ctr"/>
                      <a:r>
                        <a:rPr lang="en-US" sz="2200" b="0" i="1" dirty="0">
                          <a:latin typeface="Times New Roman" panose="02020603050405020304" pitchFamily="18" charset="0"/>
                          <a:cs typeface="Times New Roman" panose="02020603050405020304" pitchFamily="18" charset="0"/>
                        </a:rPr>
                        <a:t>Conclusion</a:t>
                      </a:r>
                    </a:p>
                  </a:txBody>
                  <a:tcPr/>
                </a:tc>
                <a:tc>
                  <a:txBody>
                    <a:bodyPr/>
                    <a:lstStyle/>
                    <a:p>
                      <a:pPr algn="ctr"/>
                      <a:r>
                        <a:rPr lang="en-US" sz="2200" b="0" i="1" dirty="0">
                          <a:latin typeface="Times New Roman" panose="02020603050405020304" pitchFamily="18" charset="0"/>
                          <a:cs typeface="Times New Roman" panose="02020603050405020304" pitchFamily="18" charset="0"/>
                        </a:rPr>
                        <a:t>13</a:t>
                      </a:r>
                    </a:p>
                  </a:txBody>
                  <a:tcPr/>
                </a:tc>
                <a:extLst>
                  <a:ext uri="{0D108BD9-81ED-4DB2-BD59-A6C34878D82A}">
                    <a16:rowId xmlns:a16="http://schemas.microsoft.com/office/drawing/2014/main" val="10006"/>
                  </a:ext>
                </a:extLst>
              </a:tr>
              <a:tr h="523090">
                <a:tc>
                  <a:txBody>
                    <a:bodyPr/>
                    <a:lstStyle/>
                    <a:p>
                      <a:pPr algn="ctr"/>
                      <a:r>
                        <a:rPr lang="en-US" sz="2200" b="0" i="1" dirty="0">
                          <a:latin typeface="Times New Roman" panose="02020603050405020304" pitchFamily="18" charset="0"/>
                          <a:cs typeface="Times New Roman" panose="02020603050405020304" pitchFamily="18" charset="0"/>
                        </a:rPr>
                        <a:t>References</a:t>
                      </a:r>
                    </a:p>
                  </a:txBody>
                  <a:tcPr/>
                </a:tc>
                <a:tc>
                  <a:txBody>
                    <a:bodyPr/>
                    <a:lstStyle/>
                    <a:p>
                      <a:pPr algn="ctr"/>
                      <a:r>
                        <a:rPr lang="en-US" sz="2200" b="0" i="1" dirty="0">
                          <a:latin typeface="Times New Roman" panose="02020603050405020304" pitchFamily="18" charset="0"/>
                          <a:cs typeface="Times New Roman" panose="02020603050405020304" pitchFamily="18" charset="0"/>
                        </a:rPr>
                        <a:t>14</a:t>
                      </a:r>
                    </a:p>
                  </a:txBody>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p:txBody>
          <a:bodyPr/>
          <a:lstStyle/>
          <a:p>
            <a:fld id="{DD34EA82-3CFF-4AE1-A06A-DB5BBD6A65B6}" type="slidenum">
              <a:rPr lang="en-US" smtClean="0"/>
              <a:t>2</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spTree>
    <p:extLst>
      <p:ext uri="{BB962C8B-B14F-4D97-AF65-F5344CB8AC3E}">
        <p14:creationId xmlns:p14="http://schemas.microsoft.com/office/powerpoint/2010/main" val="332134417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u="sng"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1202919" y="2908570"/>
            <a:ext cx="9784080" cy="3514284"/>
          </a:xfrm>
        </p:spPr>
        <p:txBody>
          <a:bodyPr/>
          <a:lstStyle/>
          <a:p>
            <a:pPr marL="457200" indent="-457200">
              <a:buFont typeface="+mj-lt"/>
              <a:buAutoNum type="arabicParenR"/>
            </a:pPr>
            <a:r>
              <a:rPr lang="en-US" dirty="0">
                <a:latin typeface="Times New Roman" panose="02020603050405020304" pitchFamily="18" charset="0"/>
                <a:cs typeface="Times New Roman" panose="02020603050405020304" pitchFamily="18" charset="0"/>
              </a:rPr>
              <a:t>Lack of proper planning of city roads</a:t>
            </a:r>
          </a:p>
          <a:p>
            <a:pPr marL="457200" lvl="0" indent="-457200">
              <a:buFont typeface="+mj-lt"/>
              <a:buAutoNum type="arabicParenR"/>
            </a:pPr>
            <a:r>
              <a:rPr lang="en-US" dirty="0">
                <a:latin typeface="Times New Roman" panose="02020603050405020304" pitchFamily="18" charset="0"/>
                <a:cs typeface="Times New Roman" panose="02020603050405020304" pitchFamily="18" charset="0"/>
              </a:rPr>
              <a:t>Unplanned parking</a:t>
            </a:r>
          </a:p>
          <a:p>
            <a:pPr marL="457200" lvl="0" indent="-457200">
              <a:buFont typeface="+mj-lt"/>
              <a:buAutoNum type="arabicParenR"/>
            </a:pPr>
            <a:r>
              <a:rPr lang="en-US" dirty="0">
                <a:latin typeface="Times New Roman" panose="02020603050405020304" pitchFamily="18" charset="0"/>
                <a:cs typeface="Times New Roman" panose="02020603050405020304" pitchFamily="18" charset="0"/>
              </a:rPr>
              <a:t>Traffic rule violation</a:t>
            </a:r>
          </a:p>
          <a:p>
            <a:pPr marL="457200" lvl="0" indent="-457200">
              <a:buFont typeface="+mj-lt"/>
              <a:buAutoNum type="arabicParenR"/>
            </a:pPr>
            <a:r>
              <a:rPr lang="en-US" dirty="0">
                <a:latin typeface="Times New Roman" panose="02020603050405020304" pitchFamily="18" charset="0"/>
                <a:cs typeface="Times New Roman" panose="02020603050405020304" pitchFamily="18" charset="0"/>
              </a:rPr>
              <a:t>Lack of law implementation</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sp>
        <p:nvSpPr>
          <p:cNvPr id="5" name="Slide Number Placeholder 4"/>
          <p:cNvSpPr>
            <a:spLocks noGrp="1"/>
          </p:cNvSpPr>
          <p:nvPr>
            <p:ph type="sldNum" sz="quarter" idx="12"/>
          </p:nvPr>
        </p:nvSpPr>
        <p:spPr/>
        <p:txBody>
          <a:bodyPr/>
          <a:lstStyle/>
          <a:p>
            <a:fld id="{DD34EA82-3CFF-4AE1-A06A-DB5BBD6A65B6}" type="slidenum">
              <a:rPr lang="en-US" smtClean="0"/>
              <a:t>3</a:t>
            </a:fld>
            <a:endParaRPr lang="en-US"/>
          </a:p>
        </p:txBody>
      </p:sp>
      <p:pic>
        <p:nvPicPr>
          <p:cNvPr id="6" name="Picture 5"/>
          <p:cNvPicPr>
            <a:picLocks noChangeAspect="1"/>
          </p:cNvPicPr>
          <p:nvPr/>
        </p:nvPicPr>
        <p:blipFill>
          <a:blip r:embed="rId3"/>
          <a:stretch>
            <a:fillRect/>
          </a:stretch>
        </p:blipFill>
        <p:spPr>
          <a:xfrm>
            <a:off x="7217924" y="2558374"/>
            <a:ext cx="4387268" cy="2429884"/>
          </a:xfrm>
          <a:prstGeom prst="rect">
            <a:avLst/>
          </a:prstGeom>
        </p:spPr>
      </p:pic>
      <p:sp>
        <p:nvSpPr>
          <p:cNvPr id="7" name="TextBox 6">
            <a:extLst>
              <a:ext uri="{FF2B5EF4-FFF2-40B4-BE49-F238E27FC236}">
                <a16:creationId xmlns:a16="http://schemas.microsoft.com/office/drawing/2014/main" id="{977BF9DF-9B17-6EFF-5553-D637E3E2AD54}"/>
              </a:ext>
            </a:extLst>
          </p:cNvPr>
          <p:cNvSpPr txBox="1"/>
          <p:nvPr/>
        </p:nvSpPr>
        <p:spPr>
          <a:xfrm>
            <a:off x="1303506" y="2042809"/>
            <a:ext cx="4620639"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Causes of traffic jam:</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672655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u="sng" dirty="0">
                <a:latin typeface="Times New Roman" panose="02020603050405020304" pitchFamily="18" charset="0"/>
                <a:cs typeface="Times New Roman" panose="02020603050405020304" pitchFamily="18" charset="0"/>
              </a:rPr>
              <a:t>Background study</a:t>
            </a:r>
          </a:p>
        </p:txBody>
      </p:sp>
      <p:sp>
        <p:nvSpPr>
          <p:cNvPr id="3" name="Content Placeholder 2"/>
          <p:cNvSpPr>
            <a:spLocks noGrp="1"/>
          </p:cNvSpPr>
          <p:nvPr>
            <p:ph idx="1"/>
          </p:nvPr>
        </p:nvSpPr>
        <p:spPr>
          <a:xfrm>
            <a:off x="1202919" y="2183642"/>
            <a:ext cx="9784080" cy="4034278"/>
          </a:xfrm>
        </p:spPr>
        <p:txBody>
          <a:bodyPr/>
          <a:lstStyle/>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KITS, Warangal (India):</a:t>
            </a:r>
            <a:r>
              <a:rPr lang="en-US" dirty="0">
                <a:latin typeface="Times New Roman" panose="02020603050405020304" pitchFamily="18" charset="0"/>
                <a:cs typeface="Times New Roman" panose="02020603050405020304" pitchFamily="18" charset="0"/>
              </a:rPr>
              <a:t> ECE students developed a density-based traffic system using </a:t>
            </a:r>
            <a:r>
              <a:rPr lang="en-US" b="1" dirty="0">
                <a:latin typeface="Times New Roman" panose="02020603050405020304" pitchFamily="18" charset="0"/>
                <a:cs typeface="Times New Roman" panose="02020603050405020304" pitchFamily="18" charset="0"/>
              </a:rPr>
              <a:t>IR sensors, Arduino, and LEDs</a:t>
            </a:r>
            <a:r>
              <a:rPr lang="en-US" dirty="0">
                <a:latin typeface="Times New Roman" panose="02020603050405020304" pitchFamily="18" charset="0"/>
                <a:cs typeface="Times New Roman" panose="02020603050405020304" pitchFamily="18" charset="0"/>
              </a:rPr>
              <a:t>. The system detects traffic density and gives </a:t>
            </a:r>
            <a:r>
              <a:rPr lang="en-US" b="1" dirty="0">
                <a:latin typeface="Times New Roman" panose="02020603050405020304" pitchFamily="18" charset="0"/>
                <a:cs typeface="Times New Roman" panose="02020603050405020304" pitchFamily="18" charset="0"/>
              </a:rPr>
              <a:t>green signal priority</a:t>
            </a:r>
            <a:r>
              <a:rPr lang="en-US" dirty="0">
                <a:latin typeface="Times New Roman" panose="02020603050405020304" pitchFamily="18" charset="0"/>
                <a:cs typeface="Times New Roman" panose="02020603050405020304" pitchFamily="18" charset="0"/>
              </a:rPr>
              <a:t> to the busiest lane. Infrared cameras were also included in the model.</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University of </a:t>
            </a:r>
            <a:r>
              <a:rPr lang="en-US" b="1" dirty="0" err="1">
                <a:latin typeface="Times New Roman" panose="02020603050405020304" pitchFamily="18" charset="0"/>
                <a:cs typeface="Times New Roman" panose="02020603050405020304" pitchFamily="18" charset="0"/>
              </a:rPr>
              <a:t>Uyo</a:t>
            </a:r>
            <a:r>
              <a:rPr lang="en-US" b="1" dirty="0">
                <a:latin typeface="Times New Roman" panose="02020603050405020304" pitchFamily="18" charset="0"/>
                <a:cs typeface="Times New Roman" panose="02020603050405020304" pitchFamily="18" charset="0"/>
              </a:rPr>
              <a:t> (Nigeria):</a:t>
            </a:r>
            <a:r>
              <a:rPr lang="en-US" dirty="0">
                <a:latin typeface="Times New Roman" panose="02020603050405020304" pitchFamily="18" charset="0"/>
                <a:cs typeface="Times New Roman" panose="02020603050405020304" pitchFamily="18" charset="0"/>
              </a:rPr>
              <a:t> Students used </a:t>
            </a:r>
            <a:r>
              <a:rPr lang="en-US" b="1" dirty="0">
                <a:latin typeface="Times New Roman" panose="02020603050405020304" pitchFamily="18" charset="0"/>
                <a:cs typeface="Times New Roman" panose="02020603050405020304" pitchFamily="18" charset="0"/>
              </a:rPr>
              <a:t>IR sensors with PIC18F4550 microcontroller</a:t>
            </a:r>
            <a:r>
              <a:rPr lang="en-US" dirty="0">
                <a:latin typeface="Times New Roman" panose="02020603050405020304" pitchFamily="18" charset="0"/>
                <a:cs typeface="Times New Roman" panose="02020603050405020304" pitchFamily="18" charset="0"/>
              </a:rPr>
              <a:t>. Sensors were arranged with </a:t>
            </a:r>
            <a:r>
              <a:rPr lang="en-US" b="1" dirty="0">
                <a:latin typeface="Times New Roman" panose="02020603050405020304" pitchFamily="18" charset="0"/>
                <a:cs typeface="Times New Roman" panose="02020603050405020304" pitchFamily="18" charset="0"/>
              </a:rPr>
              <a:t>AND gates</a:t>
            </a:r>
            <a:r>
              <a:rPr lang="en-US" dirty="0">
                <a:latin typeface="Times New Roman" panose="02020603050405020304" pitchFamily="18" charset="0"/>
                <a:cs typeface="Times New Roman" panose="02020603050405020304" pitchFamily="18" charset="0"/>
              </a:rPr>
              <a:t> to detect vehicle presence, allowing the system to </a:t>
            </a:r>
            <a:r>
              <a:rPr lang="en-US" b="1" dirty="0">
                <a:latin typeface="Times New Roman" panose="02020603050405020304" pitchFamily="18" charset="0"/>
                <a:cs typeface="Times New Roman" panose="02020603050405020304" pitchFamily="18" charset="0"/>
              </a:rPr>
              <a:t>dynamically adjust signals</a:t>
            </a:r>
            <a:r>
              <a:rPr lang="en-US" dirty="0">
                <a:latin typeface="Times New Roman" panose="02020603050405020304" pitchFamily="18" charset="0"/>
                <a:cs typeface="Times New Roman" panose="02020603050405020304" pitchFamily="18" charset="0"/>
              </a:rPr>
              <a:t> based on real-time traffic.</a:t>
            </a:r>
          </a:p>
        </p:txBody>
      </p:sp>
      <p:sp>
        <p:nvSpPr>
          <p:cNvPr id="4" name="Slide Number Placeholder 3"/>
          <p:cNvSpPr>
            <a:spLocks noGrp="1"/>
          </p:cNvSpPr>
          <p:nvPr>
            <p:ph type="sldNum" sz="quarter" idx="12"/>
          </p:nvPr>
        </p:nvSpPr>
        <p:spPr/>
        <p:txBody>
          <a:bodyPr/>
          <a:lstStyle/>
          <a:p>
            <a:fld id="{DD34EA82-3CFF-4AE1-A06A-DB5BBD6A65B6}" type="slidenum">
              <a:rPr lang="en-US" smtClean="0"/>
              <a:t>4</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spTree>
    <p:extLst>
      <p:ext uri="{BB962C8B-B14F-4D97-AF65-F5344CB8AC3E}">
        <p14:creationId xmlns:p14="http://schemas.microsoft.com/office/powerpoint/2010/main" val="409360315"/>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u="sng" dirty="0">
                <a:latin typeface="Times New Roman" panose="02020603050405020304" pitchFamily="18" charset="0"/>
                <a:cs typeface="Times New Roman" panose="02020603050405020304" pitchFamily="18" charset="0"/>
              </a:rPr>
              <a:t>Research gap</a:t>
            </a:r>
          </a:p>
        </p:txBody>
      </p:sp>
      <p:sp>
        <p:nvSpPr>
          <p:cNvPr id="3" name="Content Placeholder 2"/>
          <p:cNvSpPr>
            <a:spLocks noGrp="1"/>
          </p:cNvSpPr>
          <p:nvPr>
            <p:ph idx="1"/>
          </p:nvPr>
        </p:nvSpPr>
        <p:spPr/>
        <p:txBody>
          <a:bodyPr>
            <a:normAutofit fontScale="92500" lnSpcReduction="20000"/>
          </a:bodyPr>
          <a:lstStyle/>
          <a:p>
            <a:pPr lvl="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Due to budget and cost management only four IR sensors are used in each road. It would have been more accurate if we used more IR sensors.</a:t>
            </a:r>
          </a:p>
          <a:p>
            <a:pPr lvl="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Programming the microcontroller to do a specific function was a challenge since we still have little to no experience on programing.</a:t>
            </a:r>
          </a:p>
          <a:p>
            <a:pPr lvl="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Infrared cameras can be used to make the system more accurate and decisive. Further budget and governmental funds are necessary to implement infrared cameras on this system.</a:t>
            </a:r>
          </a:p>
          <a:p>
            <a:pPr lvl="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our experimental model we are using the 5V-0.5A USB port of a laptop as a power source.</a:t>
            </a:r>
          </a:p>
          <a:p>
            <a:pPr lvl="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When this density based traffic system is applied in real life the microcontroller needs to be protected from dust and water. So, proper casing is required.</a:t>
            </a:r>
          </a:p>
          <a:p>
            <a:pPr lvl="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AC power supply is used instead of battery than we will need to use a separate converter/adapter.</a:t>
            </a:r>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sp>
        <p:nvSpPr>
          <p:cNvPr id="5" name="Slide Number Placeholder 4"/>
          <p:cNvSpPr>
            <a:spLocks noGrp="1"/>
          </p:cNvSpPr>
          <p:nvPr>
            <p:ph type="sldNum" sz="quarter" idx="12"/>
          </p:nvPr>
        </p:nvSpPr>
        <p:spPr/>
        <p:txBody>
          <a:bodyPr/>
          <a:lstStyle/>
          <a:p>
            <a:fld id="{DD34EA82-3CFF-4AE1-A06A-DB5BBD6A65B6}" type="slidenum">
              <a:rPr lang="en-US" smtClean="0"/>
              <a:t>5</a:t>
            </a:fld>
            <a:endParaRPr lang="en-US"/>
          </a:p>
        </p:txBody>
      </p:sp>
    </p:spTree>
    <p:extLst>
      <p:ext uri="{BB962C8B-B14F-4D97-AF65-F5344CB8AC3E}">
        <p14:creationId xmlns:p14="http://schemas.microsoft.com/office/powerpoint/2010/main" val="247445728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u="sng" dirty="0">
                <a:latin typeface="Times New Roman" panose="02020603050405020304" pitchFamily="18" charset="0"/>
                <a:cs typeface="Times New Roman" panose="02020603050405020304" pitchFamily="18" charset="0"/>
              </a:rPr>
              <a:t>RESEARCH GAP</a:t>
            </a:r>
          </a:p>
        </p:txBody>
      </p:sp>
      <p:sp>
        <p:nvSpPr>
          <p:cNvPr id="3" name="Content Placeholder 2"/>
          <p:cNvSpPr>
            <a:spLocks noGrp="1"/>
          </p:cNvSpPr>
          <p:nvPr>
            <p:ph idx="1"/>
          </p:nvPr>
        </p:nvSpPr>
        <p:spPr/>
        <p:txBody>
          <a:bodyPr/>
          <a:lstStyle/>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When the system is applied it will be best if both AC and battery source is used simultaneously due to load shedding.</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Unfortunately, there is no way to forcefully make the light signals go green for VIP convoys. Under such circumstances police constables should take charge of traffic.</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Fuses are to be used to protect the electric equipment used in this system from electric load shedding or fluctuation. Thus unnecessary short-circuit of the microcontroller and led light can be avoided, saving repair cost.</a:t>
            </a:r>
          </a:p>
          <a:p>
            <a:pPr>
              <a:buFont typeface="Wingdings" panose="05000000000000000000" pitchFamily="2" charset="2"/>
              <a:buChar char="Ø"/>
            </a:pPr>
            <a:endParaRPr lang="en-US" dirty="0"/>
          </a:p>
        </p:txBody>
      </p:sp>
      <p:sp>
        <p:nvSpPr>
          <p:cNvPr id="4" name="Slide Number Placeholder 3"/>
          <p:cNvSpPr>
            <a:spLocks noGrp="1"/>
          </p:cNvSpPr>
          <p:nvPr>
            <p:ph type="sldNum" sz="quarter" idx="12"/>
          </p:nvPr>
        </p:nvSpPr>
        <p:spPr/>
        <p:txBody>
          <a:bodyPr/>
          <a:lstStyle/>
          <a:p>
            <a:fld id="{DD34EA82-3CFF-4AE1-A06A-DB5BBD6A65B6}" type="slidenum">
              <a:rPr lang="en-US" smtClean="0"/>
              <a:t>6</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spTree>
    <p:extLst>
      <p:ext uri="{BB962C8B-B14F-4D97-AF65-F5344CB8AC3E}">
        <p14:creationId xmlns:p14="http://schemas.microsoft.com/office/powerpoint/2010/main" val="2174623546"/>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u="sng"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1202919" y="2284416"/>
            <a:ext cx="9784080" cy="3933503"/>
          </a:xfrm>
        </p:spPr>
        <p:txBody>
          <a:bodyPr/>
          <a:lstStyle/>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Phase sequence and durations for each road is not conventional.</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Disobedience of traffic rules.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Abstract mind of traffic police.</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Diversion of traffic to inadequate alternate routes.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Sound pollution caused due to unnecessary vehicle horns applied</a:t>
            </a:r>
          </a:p>
          <a:p>
            <a:pPr marL="0" lvl="0" indent="0">
              <a:buNone/>
            </a:pPr>
            <a:r>
              <a:rPr lang="en-US" dirty="0">
                <a:latin typeface="Times New Roman" panose="02020603050405020304" pitchFamily="18" charset="0"/>
                <a:cs typeface="Times New Roman" panose="02020603050405020304" pitchFamily="18" charset="0"/>
              </a:rPr>
              <a:t>   in signals.</a:t>
            </a:r>
          </a:p>
          <a:p>
            <a:pPr lvl="0"/>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lgn="ctr"/>
            <a:fld id="{DD34EA82-3CFF-4AE1-A06A-DB5BBD6A65B6}" type="slidenum">
              <a:rPr lang="en-US" smtClean="0"/>
              <a:pPr algn="ctr"/>
              <a:t>7</a:t>
            </a:fld>
            <a:endParaRPr lang="en-US" dirty="0"/>
          </a:p>
        </p:txBody>
      </p:sp>
      <p:pic>
        <p:nvPicPr>
          <p:cNvPr id="6" name="Picture 5"/>
          <p:cNvPicPr>
            <a:picLocks noChangeAspect="1"/>
          </p:cNvPicPr>
          <p:nvPr/>
        </p:nvPicPr>
        <p:blipFill rotWithShape="1">
          <a:blip r:embed="rId2"/>
          <a:srcRect l="21438" r="21394"/>
          <a:stretch/>
        </p:blipFill>
        <p:spPr>
          <a:xfrm>
            <a:off x="9007523" y="2284417"/>
            <a:ext cx="2893326" cy="3365500"/>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spTree>
    <p:extLst>
      <p:ext uri="{BB962C8B-B14F-4D97-AF65-F5344CB8AC3E}">
        <p14:creationId xmlns:p14="http://schemas.microsoft.com/office/powerpoint/2010/main" val="367543134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u="sng" dirty="0">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1202919" y="2377440"/>
            <a:ext cx="9784080" cy="3853543"/>
          </a:xfrm>
        </p:spPr>
        <p:txBody>
          <a:bodyPr/>
          <a:lstStyle/>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digitalize the continuous process of traffic signal management.</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eradicate the issues caused by manually operated traffic signal systems. Most commonly observed problems in the streets of our country are corruption by law enforcing traffic police, inconsistent signaling, unnecessary traffic congestion and so on.</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reduce the need of traffic regulators in roads who can be deployed in other   demanding fields.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ensure even and smooth running of traffic taking the load into consideration.</a:t>
            </a:r>
          </a:p>
          <a:p>
            <a:pPr lvl="0"/>
            <a:endParaRPr lang="en-US" dirty="0">
              <a:latin typeface="Times New Roman" panose="02020603050405020304" pitchFamily="18" charset="0"/>
              <a:cs typeface="Times New Roman" panose="02020603050405020304" pitchFamily="18" charset="0"/>
            </a:endParaRPr>
          </a:p>
          <a:p>
            <a:pPr lvl="0"/>
            <a:endParaRPr lang="en-US" dirty="0"/>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sp>
        <p:nvSpPr>
          <p:cNvPr id="5" name="Slide Number Placeholder 4"/>
          <p:cNvSpPr>
            <a:spLocks noGrp="1"/>
          </p:cNvSpPr>
          <p:nvPr>
            <p:ph type="sldNum" sz="quarter" idx="12"/>
          </p:nvPr>
        </p:nvSpPr>
        <p:spPr/>
        <p:txBody>
          <a:bodyPr/>
          <a:lstStyle/>
          <a:p>
            <a:fld id="{DD34EA82-3CFF-4AE1-A06A-DB5BBD6A65B6}" type="slidenum">
              <a:rPr lang="en-US" smtClean="0"/>
              <a:t>8</a:t>
            </a:fld>
            <a:endParaRPr lang="en-US"/>
          </a:p>
        </p:txBody>
      </p:sp>
    </p:spTree>
    <p:extLst>
      <p:ext uri="{BB962C8B-B14F-4D97-AF65-F5344CB8AC3E}">
        <p14:creationId xmlns:p14="http://schemas.microsoft.com/office/powerpoint/2010/main" val="12430003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u="sng" dirty="0">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a:xfrm>
            <a:off x="922503" y="2247899"/>
            <a:ext cx="9784080" cy="3932639"/>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components required for the project are – </a:t>
            </a:r>
          </a:p>
          <a:p>
            <a:pPr marL="457200" indent="-457200">
              <a:buFont typeface="+mj-lt"/>
              <a:buAutoNum type="arabicParenR"/>
            </a:pPr>
            <a:r>
              <a:rPr lang="en-US" dirty="0" err="1">
                <a:latin typeface="Times New Roman" panose="02020603050405020304" pitchFamily="18" charset="0"/>
                <a:cs typeface="Times New Roman" panose="02020603050405020304" pitchFamily="18" charset="0"/>
              </a:rPr>
              <a:t>Arduino</a:t>
            </a:r>
            <a:r>
              <a:rPr lang="en-US" dirty="0">
                <a:latin typeface="Times New Roman" panose="02020603050405020304" pitchFamily="18" charset="0"/>
                <a:cs typeface="Times New Roman" panose="02020603050405020304" pitchFamily="18" charset="0"/>
              </a:rPr>
              <a:t> Uno R3 </a:t>
            </a:r>
            <a:r>
              <a:rPr lang="en-US" sz="2000" dirty="0">
                <a:latin typeface="Times New Roman" panose="02020603050405020304" pitchFamily="18" charset="0"/>
                <a:cs typeface="Times New Roman" panose="02020603050405020304" pitchFamily="18" charset="0"/>
              </a:rPr>
              <a:t>(ATmega328P microcontroller</a:t>
            </a:r>
            <a:r>
              <a:rPr lang="en-US" dirty="0"/>
              <a:t>)</a:t>
            </a:r>
            <a:endParaRPr lang="en-US" dirty="0">
              <a:latin typeface="Times New Roman" panose="02020603050405020304" pitchFamily="18" charset="0"/>
              <a:cs typeface="Times New Roman" panose="02020603050405020304" pitchFamily="18" charset="0"/>
            </a:endParaRPr>
          </a:p>
          <a:p>
            <a:pPr marL="457200" indent="-457200">
              <a:buFont typeface="+mj-lt"/>
              <a:buAutoNum type="arabicParenR"/>
            </a:pPr>
            <a:r>
              <a:rPr lang="en-US" dirty="0">
                <a:latin typeface="Times New Roman" panose="02020603050405020304" pitchFamily="18" charset="0"/>
                <a:cs typeface="Times New Roman" panose="02020603050405020304" pitchFamily="18" charset="0"/>
              </a:rPr>
              <a:t>Jumper Cables</a:t>
            </a:r>
          </a:p>
          <a:p>
            <a:pPr marL="457200" indent="-457200">
              <a:buFont typeface="+mj-lt"/>
              <a:buAutoNum type="arabicParenR"/>
            </a:pPr>
            <a:r>
              <a:rPr lang="en-US" dirty="0">
                <a:latin typeface="Times New Roman" panose="02020603050405020304" pitchFamily="18" charset="0"/>
                <a:cs typeface="Times New Roman" panose="02020603050405020304" pitchFamily="18" charset="0"/>
              </a:rPr>
              <a:t>IR Sensors</a:t>
            </a:r>
          </a:p>
          <a:p>
            <a:pPr marL="457200" indent="-457200">
              <a:buFont typeface="+mj-lt"/>
              <a:buAutoNum type="arabicParenR"/>
            </a:pPr>
            <a:r>
              <a:rPr lang="en-US" dirty="0">
                <a:latin typeface="Times New Roman" panose="02020603050405020304" pitchFamily="18" charset="0"/>
                <a:cs typeface="Times New Roman" panose="02020603050405020304" pitchFamily="18" charset="0"/>
              </a:rPr>
              <a:t>LED Bulbs</a:t>
            </a:r>
          </a:p>
          <a:p>
            <a:pPr marL="457200" indent="-457200">
              <a:buFont typeface="+mj-lt"/>
              <a:buAutoNum type="arabicParenR"/>
            </a:pPr>
            <a:r>
              <a:rPr lang="en-US" dirty="0">
                <a:latin typeface="Times New Roman" panose="02020603050405020304" pitchFamily="18" charset="0"/>
                <a:cs typeface="Times New Roman" panose="02020603050405020304" pitchFamily="18" charset="0"/>
              </a:rPr>
              <a:t>Power Source</a:t>
            </a:r>
          </a:p>
          <a:p>
            <a:pPr marL="457200" indent="-457200">
              <a:buFont typeface="+mj-lt"/>
              <a:buAutoNum type="arabicParenR"/>
            </a:pPr>
            <a:r>
              <a:rPr lang="en-US" dirty="0">
                <a:latin typeface="Times New Roman" panose="02020603050405020304" pitchFamily="18" charset="0"/>
                <a:cs typeface="Times New Roman" panose="02020603050405020304" pitchFamily="18" charset="0"/>
              </a:rPr>
              <a:t>Resistors</a:t>
            </a:r>
          </a:p>
          <a:p>
            <a:pPr marL="457200" indent="-457200">
              <a:buFont typeface="+mj-lt"/>
              <a:buAutoNum type="arabicParenR"/>
            </a:pPr>
            <a:r>
              <a:rPr lang="en-US" dirty="0">
                <a:latin typeface="Times New Roman" panose="02020603050405020304" pitchFamily="18" charset="0"/>
                <a:cs typeface="Times New Roman" panose="02020603050405020304" pitchFamily="18" charset="0"/>
              </a:rPr>
              <a:t>Breadboard</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6018" y="2015324"/>
            <a:ext cx="2558760" cy="1642884"/>
          </a:xfrm>
          <a:prstGeom prst="rect">
            <a:avLst/>
          </a:prstGeom>
        </p:spPr>
      </p:pic>
      <p:pic>
        <p:nvPicPr>
          <p:cNvPr id="6" name="Picture 5"/>
          <p:cNvPicPr>
            <a:picLocks noChangeAspect="1"/>
          </p:cNvPicPr>
          <p:nvPr/>
        </p:nvPicPr>
        <p:blipFill>
          <a:blip r:embed="rId5"/>
          <a:stretch>
            <a:fillRect/>
          </a:stretch>
        </p:blipFill>
        <p:spPr>
          <a:xfrm>
            <a:off x="6260063" y="5377951"/>
            <a:ext cx="2052274" cy="835369"/>
          </a:xfrm>
          <a:prstGeom prst="rect">
            <a:avLst/>
          </a:prstGeom>
        </p:spPr>
      </p:pic>
      <p:sp>
        <p:nvSpPr>
          <p:cNvPr id="7" name="Slide Number Placeholder 6"/>
          <p:cNvSpPr>
            <a:spLocks noGrp="1"/>
          </p:cNvSpPr>
          <p:nvPr>
            <p:ph type="sldNum" sz="quarter" idx="12"/>
          </p:nvPr>
        </p:nvSpPr>
        <p:spPr/>
        <p:txBody>
          <a:bodyPr/>
          <a:lstStyle/>
          <a:p>
            <a:fld id="{DD34EA82-3CFF-4AE1-A06A-DB5BBD6A65B6}" type="slidenum">
              <a:rPr lang="en-US" smtClean="0"/>
              <a:t>9</a:t>
            </a:fld>
            <a:endParaRPr lang="en-US"/>
          </a:p>
        </p:txBody>
      </p:sp>
      <p:pic>
        <p:nvPicPr>
          <p:cNvPr id="9" name="Picture 8"/>
          <p:cNvPicPr>
            <a:picLocks noChangeAspect="1"/>
          </p:cNvPicPr>
          <p:nvPr/>
        </p:nvPicPr>
        <p:blipFill>
          <a:blip r:embed="rId6"/>
          <a:stretch>
            <a:fillRect/>
          </a:stretch>
        </p:blipFill>
        <p:spPr>
          <a:xfrm>
            <a:off x="6474862" y="3800602"/>
            <a:ext cx="3314700" cy="1241640"/>
          </a:xfrm>
          <a:prstGeom prst="rect">
            <a:avLst/>
          </a:prstGeom>
        </p:spPr>
      </p:pic>
      <p:pic>
        <p:nvPicPr>
          <p:cNvPr id="10" name="Picture 9"/>
          <p:cNvPicPr>
            <a:picLocks noChangeAspect="1"/>
          </p:cNvPicPr>
          <p:nvPr/>
        </p:nvPicPr>
        <p:blipFill>
          <a:blip r:embed="rId7"/>
          <a:stretch>
            <a:fillRect/>
          </a:stretch>
        </p:blipFill>
        <p:spPr>
          <a:xfrm>
            <a:off x="10028178" y="2015324"/>
            <a:ext cx="1953263" cy="2143125"/>
          </a:xfrm>
          <a:prstGeom prst="rect">
            <a:avLst/>
          </a:prstGeom>
        </p:spPr>
      </p:pic>
      <p:pic>
        <p:nvPicPr>
          <p:cNvPr id="11" name="Picture 10"/>
          <p:cNvPicPr>
            <a:picLocks noChangeAspect="1"/>
          </p:cNvPicPr>
          <p:nvPr/>
        </p:nvPicPr>
        <p:blipFill>
          <a:blip r:embed="rId8"/>
          <a:stretch>
            <a:fillRect/>
          </a:stretch>
        </p:blipFill>
        <p:spPr>
          <a:xfrm>
            <a:off x="10133952" y="4454207"/>
            <a:ext cx="1847489" cy="1847489"/>
          </a:xfrm>
          <a:prstGeom prst="rect">
            <a:avLst/>
          </a:prstGeom>
        </p:spPr>
      </p:pic>
      <p:pic>
        <p:nvPicPr>
          <p:cNvPr id="12" name="Picture 11"/>
          <p:cNvPicPr>
            <a:picLocks noChangeAspect="1"/>
          </p:cNvPicPr>
          <p:nvPr/>
        </p:nvPicPr>
        <p:blipFill>
          <a:blip r:embed="rId9"/>
          <a:stretch>
            <a:fillRect/>
          </a:stretch>
        </p:blipFill>
        <p:spPr>
          <a:xfrm>
            <a:off x="8485398" y="5184636"/>
            <a:ext cx="1304164" cy="1180555"/>
          </a:xfrm>
          <a:prstGeom prst="rect">
            <a:avLst/>
          </a:prstGeom>
        </p:spPr>
      </p:pic>
    </p:spTree>
    <p:extLst>
      <p:ext uri="{BB962C8B-B14F-4D97-AF65-F5344CB8AC3E}">
        <p14:creationId xmlns:p14="http://schemas.microsoft.com/office/powerpoint/2010/main" val="96749768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u="sng" dirty="0">
                <a:latin typeface="Times New Roman" panose="02020603050405020304" pitchFamily="18" charset="0"/>
                <a:cs typeface="Times New Roman" panose="02020603050405020304" pitchFamily="18" charset="0"/>
              </a:rPr>
              <a:t>methodology</a:t>
            </a:r>
          </a:p>
        </p:txBody>
      </p:sp>
      <p:pic>
        <p:nvPicPr>
          <p:cNvPr id="6" name="Content Placeholder 5"/>
          <p:cNvPicPr>
            <a:picLocks noGrp="1" noChangeAspect="1"/>
          </p:cNvPicPr>
          <p:nvPr>
            <p:ph sz="half" idx="1"/>
          </p:nvPr>
        </p:nvPicPr>
        <p:blipFill>
          <a:blip r:embed="rId2"/>
          <a:stretch>
            <a:fillRect/>
          </a:stretch>
        </p:blipFill>
        <p:spPr>
          <a:xfrm>
            <a:off x="7159745" y="4048029"/>
            <a:ext cx="4794913" cy="2681677"/>
          </a:xfrm>
          <a:prstGeom prst="rect">
            <a:avLst/>
          </a:prstGeom>
        </p:spPr>
      </p:pic>
      <p:sp>
        <p:nvSpPr>
          <p:cNvPr id="8" name="Content Placeholder 7"/>
          <p:cNvSpPr>
            <a:spLocks noGrp="1"/>
          </p:cNvSpPr>
          <p:nvPr>
            <p:ph sz="half" idx="2"/>
          </p:nvPr>
        </p:nvSpPr>
        <p:spPr>
          <a:xfrm>
            <a:off x="928048" y="2306472"/>
            <a:ext cx="4790364" cy="4423234"/>
          </a:xfrm>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whole system is powered by a 5V power supply. Four IR sensors are placed by four roads, one for each road. They detect the oncoming traffic. Based on their input the signal outputs change. Each IR sensor is interfaced to the microcontroller board. If the IR sensor senses obstacle in front, it is considered that traffic has taken station at that point. </a:t>
            </a:r>
          </a:p>
        </p:txBody>
      </p:sp>
      <p:sp>
        <p:nvSpPr>
          <p:cNvPr id="4" name="Slide Number Placeholder 3"/>
          <p:cNvSpPr>
            <a:spLocks noGrp="1"/>
          </p:cNvSpPr>
          <p:nvPr>
            <p:ph type="sldNum" sz="quarter" idx="12"/>
          </p:nvPr>
        </p:nvSpPr>
        <p:spPr/>
        <p:txBody>
          <a:bodyPr/>
          <a:lstStyle/>
          <a:p>
            <a:fld id="{DD34EA82-3CFF-4AE1-A06A-DB5BBD6A65B6}" type="slidenum">
              <a:rPr lang="en-US" smtClean="0"/>
              <a:t>10</a:t>
            </a:fld>
            <a:endParaRPr lang="en-US"/>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pic>
        <p:nvPicPr>
          <p:cNvPr id="7" name="Picture 6"/>
          <p:cNvPicPr>
            <a:picLocks noChangeAspect="1"/>
          </p:cNvPicPr>
          <p:nvPr/>
        </p:nvPicPr>
        <p:blipFill>
          <a:blip r:embed="rId4"/>
          <a:stretch>
            <a:fillRect/>
          </a:stretch>
        </p:blipFill>
        <p:spPr>
          <a:xfrm>
            <a:off x="7604791" y="1888277"/>
            <a:ext cx="3904819" cy="2101479"/>
          </a:xfrm>
          <a:prstGeom prst="rect">
            <a:avLst/>
          </a:prstGeom>
        </p:spPr>
      </p:pic>
    </p:spTree>
    <p:extLst>
      <p:ext uri="{BB962C8B-B14F-4D97-AF65-F5344CB8AC3E}">
        <p14:creationId xmlns:p14="http://schemas.microsoft.com/office/powerpoint/2010/main" val="3307463885"/>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u="sng" dirty="0">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a:xfrm>
            <a:off x="393700" y="2146300"/>
            <a:ext cx="11099800" cy="4445000"/>
          </a:xfrm>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All the components are connected to the microcontroller. The IR transmitters transmit the infrared rays and the IR sensors receive the returning rays given the traffic. Then the LED signals are automatically displayed accordingly.</a:t>
            </a:r>
          </a:p>
          <a:p>
            <a:pPr marL="0" indent="0">
              <a:buNone/>
            </a:pPr>
            <a:endParaRPr lang="en-US" dirty="0">
              <a:latin typeface="Times New Roman" panose="02020603050405020304" pitchFamily="18" charset="0"/>
              <a:cs typeface="Times New Roman" panose="02020603050405020304" pitchFamily="18" charset="0"/>
            </a:endParaRPr>
          </a:p>
        </p:txBody>
      </p:sp>
      <p:sp>
        <p:nvSpPr>
          <p:cNvPr id="6" name="Rounded Rectangle 5"/>
          <p:cNvSpPr/>
          <p:nvPr/>
        </p:nvSpPr>
        <p:spPr>
          <a:xfrm>
            <a:off x="7638739" y="3265966"/>
            <a:ext cx="9144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Logic 0</a:t>
            </a:r>
          </a:p>
        </p:txBody>
      </p:sp>
      <p:sp>
        <p:nvSpPr>
          <p:cNvPr id="7" name="Rounded Rectangle 6"/>
          <p:cNvSpPr/>
          <p:nvPr/>
        </p:nvSpPr>
        <p:spPr>
          <a:xfrm>
            <a:off x="7674435" y="5261045"/>
            <a:ext cx="9144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Logic 1</a:t>
            </a:r>
          </a:p>
        </p:txBody>
      </p:sp>
      <p:sp>
        <p:nvSpPr>
          <p:cNvPr id="8" name="Rounded Rectangle 7"/>
          <p:cNvSpPr/>
          <p:nvPr/>
        </p:nvSpPr>
        <p:spPr>
          <a:xfrm>
            <a:off x="9182241" y="3283717"/>
            <a:ext cx="9144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Green Light</a:t>
            </a:r>
          </a:p>
        </p:txBody>
      </p:sp>
      <p:sp>
        <p:nvSpPr>
          <p:cNvPr id="9" name="Rounded Rectangle 8"/>
          <p:cNvSpPr/>
          <p:nvPr/>
        </p:nvSpPr>
        <p:spPr>
          <a:xfrm>
            <a:off x="9205237" y="5242664"/>
            <a:ext cx="9144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Red Light</a:t>
            </a:r>
          </a:p>
        </p:txBody>
      </p:sp>
      <p:sp>
        <p:nvSpPr>
          <p:cNvPr id="10" name="Rectangle 9"/>
          <p:cNvSpPr/>
          <p:nvPr/>
        </p:nvSpPr>
        <p:spPr>
          <a:xfrm>
            <a:off x="1697109" y="4001018"/>
            <a:ext cx="1705419" cy="14466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Microcontroller</a:t>
            </a:r>
          </a:p>
        </p:txBody>
      </p:sp>
      <p:sp>
        <p:nvSpPr>
          <p:cNvPr id="11" name="Rounded Rectangle 10"/>
          <p:cNvSpPr/>
          <p:nvPr/>
        </p:nvSpPr>
        <p:spPr>
          <a:xfrm>
            <a:off x="4235521" y="4285184"/>
            <a:ext cx="1411715"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IR Transmitter</a:t>
            </a:r>
          </a:p>
        </p:txBody>
      </p:sp>
      <p:sp>
        <p:nvSpPr>
          <p:cNvPr id="12" name="Oval 11"/>
          <p:cNvSpPr/>
          <p:nvPr/>
        </p:nvSpPr>
        <p:spPr>
          <a:xfrm>
            <a:off x="5809474" y="3227593"/>
            <a:ext cx="1219850" cy="10218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Traffic</a:t>
            </a:r>
          </a:p>
        </p:txBody>
      </p:sp>
      <p:sp>
        <p:nvSpPr>
          <p:cNvPr id="17" name="Right Arrow 16"/>
          <p:cNvSpPr/>
          <p:nvPr/>
        </p:nvSpPr>
        <p:spPr>
          <a:xfrm>
            <a:off x="7045491" y="3496706"/>
            <a:ext cx="593755"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Bent Arrow 18"/>
          <p:cNvSpPr/>
          <p:nvPr/>
        </p:nvSpPr>
        <p:spPr>
          <a:xfrm>
            <a:off x="4883852" y="3560918"/>
            <a:ext cx="924860" cy="70868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Bent Arrow 19"/>
          <p:cNvSpPr/>
          <p:nvPr/>
        </p:nvSpPr>
        <p:spPr>
          <a:xfrm flipV="1">
            <a:off x="4874976" y="5211776"/>
            <a:ext cx="990460" cy="72059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Right Arrow 20"/>
          <p:cNvSpPr/>
          <p:nvPr/>
        </p:nvSpPr>
        <p:spPr>
          <a:xfrm>
            <a:off x="8577523" y="3487766"/>
            <a:ext cx="60471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5869232" y="5243166"/>
            <a:ext cx="1194816" cy="10138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 Traffic</a:t>
            </a:r>
          </a:p>
        </p:txBody>
      </p:sp>
      <p:sp>
        <p:nvSpPr>
          <p:cNvPr id="23" name="Rounded Rectangle 22"/>
          <p:cNvSpPr/>
          <p:nvPr/>
        </p:nvSpPr>
        <p:spPr>
          <a:xfrm>
            <a:off x="5900111" y="4257413"/>
            <a:ext cx="1089858" cy="9944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IR Receiver</a:t>
            </a:r>
          </a:p>
        </p:txBody>
      </p:sp>
      <p:sp>
        <p:nvSpPr>
          <p:cNvPr id="24" name="Right Arrow 23"/>
          <p:cNvSpPr/>
          <p:nvPr/>
        </p:nvSpPr>
        <p:spPr>
          <a:xfrm>
            <a:off x="7075313" y="5507883"/>
            <a:ext cx="61131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p:cNvSpPr/>
          <p:nvPr/>
        </p:nvSpPr>
        <p:spPr>
          <a:xfrm>
            <a:off x="8610187" y="5457625"/>
            <a:ext cx="590051"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Left-Right Arrow 3"/>
          <p:cNvSpPr/>
          <p:nvPr/>
        </p:nvSpPr>
        <p:spPr>
          <a:xfrm>
            <a:off x="3402528" y="4478732"/>
            <a:ext cx="832993" cy="4846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DD34EA82-3CFF-4AE1-A06A-DB5BBD6A65B6}" type="slidenum">
              <a:rPr lang="en-US" smtClean="0"/>
              <a:t>11</a:t>
            </a:fld>
            <a:endParaRPr lang="en-US"/>
          </a:p>
        </p:txBody>
      </p:sp>
      <p:pic>
        <p:nvPicPr>
          <p:cNvPr id="26" name="Picture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spTree>
    <p:extLst>
      <p:ext uri="{BB962C8B-B14F-4D97-AF65-F5344CB8AC3E}">
        <p14:creationId xmlns:p14="http://schemas.microsoft.com/office/powerpoint/2010/main" val="94109871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u="sng"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lstStyle/>
          <a:p>
            <a:pPr marL="0" indent="0">
              <a:buNone/>
            </a:pPr>
            <a:r>
              <a:rPr lang="en-US" u="sng" dirty="0">
                <a:latin typeface="Times New Roman" panose="02020603050405020304" pitchFamily="18" charset="0"/>
                <a:cs typeface="Times New Roman" panose="02020603050405020304" pitchFamily="18" charset="0"/>
              </a:rPr>
              <a:t>Main agenda:</a:t>
            </a:r>
            <a:endParaRPr lang="en-US"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sophisticated control and coordination for a smooth and safe traffic system.</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traffic managers with predictive insights about traffic flow speeds and traffic incidents.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save our important time.</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modernize our traffic controlling system.</a:t>
            </a:r>
          </a:p>
          <a:p>
            <a:pPr marL="0" indent="0">
              <a:buNone/>
            </a:pPr>
            <a:r>
              <a:rPr lang="en-US" dirty="0">
                <a:latin typeface="Times New Roman" panose="02020603050405020304" pitchFamily="18" charset="0"/>
                <a:cs typeface="Times New Roman" panose="02020603050405020304" pitchFamily="18" charset="0"/>
              </a:rPr>
              <a:t>Our automated system reduces the problems we face in our daily life and makes it easier.</a:t>
            </a:r>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sp>
        <p:nvSpPr>
          <p:cNvPr id="5" name="Slide Number Placeholder 4"/>
          <p:cNvSpPr>
            <a:spLocks noGrp="1"/>
          </p:cNvSpPr>
          <p:nvPr>
            <p:ph type="sldNum" sz="quarter" idx="12"/>
          </p:nvPr>
        </p:nvSpPr>
        <p:spPr/>
        <p:txBody>
          <a:bodyPr/>
          <a:lstStyle/>
          <a:p>
            <a:fld id="{DD34EA82-3CFF-4AE1-A06A-DB5BBD6A65B6}" type="slidenum">
              <a:rPr lang="en-US" smtClean="0"/>
              <a:t>12</a:t>
            </a:fld>
            <a:endParaRPr lang="en-US"/>
          </a:p>
        </p:txBody>
      </p:sp>
    </p:spTree>
    <p:extLst>
      <p:ext uri="{BB962C8B-B14F-4D97-AF65-F5344CB8AC3E}">
        <p14:creationId xmlns:p14="http://schemas.microsoft.com/office/powerpoint/2010/main" val="313969499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u="sng"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p:txBody>
          <a:bodyPr>
            <a:normAutofit fontScale="92500"/>
          </a:bodyPr>
          <a:lstStyle/>
          <a:p>
            <a:pPr marL="457200" lvl="0" indent="-457200">
              <a:buFont typeface="+mj-lt"/>
              <a:buAutoNum type="arabicParenR"/>
            </a:pPr>
            <a:r>
              <a:rPr lang="en-US" dirty="0">
                <a:latin typeface="Times New Roman" panose="02020603050405020304" pitchFamily="18" charset="0"/>
                <a:cs typeface="Times New Roman" panose="02020603050405020304" pitchFamily="18" charset="0"/>
              </a:rPr>
              <a:t>Sharma, E.P., Mishra, A. and Singh, K., 2015. Density Based Intelligent Traffic Control System Using IR Sensors. </a:t>
            </a:r>
            <a:r>
              <a:rPr lang="en-US" i="1" dirty="0">
                <a:latin typeface="Times New Roman" panose="02020603050405020304" pitchFamily="18" charset="0"/>
                <a:cs typeface="Times New Roman" panose="02020603050405020304" pitchFamily="18" charset="0"/>
              </a:rPr>
              <a:t>Image</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(5).</a:t>
            </a:r>
          </a:p>
          <a:p>
            <a:pPr marL="457200" lvl="0" indent="-457200">
              <a:buFont typeface="+mj-lt"/>
              <a:buAutoNum type="arabicParenR"/>
            </a:pPr>
            <a:r>
              <a:rPr lang="en-US" dirty="0" err="1">
                <a:latin typeface="Times New Roman" panose="02020603050405020304" pitchFamily="18" charset="0"/>
                <a:cs typeface="Times New Roman" panose="02020603050405020304" pitchFamily="18" charset="0"/>
              </a:rPr>
              <a:t>Rishabh</a:t>
            </a:r>
            <a:r>
              <a:rPr lang="en-US" dirty="0">
                <a:latin typeface="Times New Roman" panose="02020603050405020304" pitchFamily="18" charset="0"/>
                <a:cs typeface="Times New Roman" panose="02020603050405020304" pitchFamily="18" charset="0"/>
              </a:rPr>
              <a:t> Gupta, 2021. Density Traffic Signal System using Microcontroller. </a:t>
            </a:r>
            <a:r>
              <a:rPr lang="en-US" i="1" dirty="0">
                <a:latin typeface="Times New Roman" panose="02020603050405020304" pitchFamily="18" charset="0"/>
                <a:cs typeface="Times New Roman" panose="02020603050405020304" pitchFamily="18" charset="0"/>
              </a:rPr>
              <a:t>Freaky Diodes</a:t>
            </a:r>
          </a:p>
          <a:p>
            <a:pPr marL="457200" indent="-457200">
              <a:buFont typeface="+mj-lt"/>
              <a:buAutoNum type="arabicParenR"/>
            </a:pPr>
            <a:r>
              <a:rPr lang="en-US" dirty="0">
                <a:latin typeface="Times New Roman" panose="02020603050405020304" pitchFamily="18" charset="0"/>
                <a:cs typeface="Times New Roman" panose="02020603050405020304" pitchFamily="18" charset="0"/>
              </a:rPr>
              <a:t>Mahmud, Khaled and </a:t>
            </a:r>
            <a:r>
              <a:rPr lang="en-US" dirty="0" err="1">
                <a:latin typeface="Times New Roman" panose="02020603050405020304" pitchFamily="18" charset="0"/>
                <a:cs typeface="Times New Roman" panose="02020603050405020304" pitchFamily="18" charset="0"/>
              </a:rPr>
              <a:t>Gope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Khonika</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Mustafizur</a:t>
            </a:r>
            <a:r>
              <a:rPr lang="en-US" dirty="0">
                <a:latin typeface="Times New Roman" panose="02020603050405020304" pitchFamily="18" charset="0"/>
                <a:cs typeface="Times New Roman" panose="02020603050405020304" pitchFamily="18" charset="0"/>
              </a:rPr>
              <a:t>, Syed and Chowdhury, Syed., 2012. Possible Causes &amp; Solutions of Traffic Jam and Their Impact on the Economy of Dhaka City</a:t>
            </a:r>
            <a:r>
              <a:rPr lang="en-US" i="1" dirty="0">
                <a:latin typeface="Times New Roman" panose="02020603050405020304" pitchFamily="18" charset="0"/>
                <a:cs typeface="Times New Roman" panose="02020603050405020304" pitchFamily="18" charset="0"/>
              </a:rPr>
              <a:t>. Journal of Management and Sustainability.</a:t>
            </a:r>
            <a:r>
              <a:rPr lang="en-US" dirty="0">
                <a:latin typeface="Times New Roman" panose="02020603050405020304" pitchFamily="18" charset="0"/>
                <a:cs typeface="Times New Roman" panose="02020603050405020304" pitchFamily="18" charset="0"/>
              </a:rPr>
              <a:t> 2. 10.5539/jms.v2n2p112.</a:t>
            </a:r>
          </a:p>
          <a:p>
            <a:pPr marL="457200" indent="-457200">
              <a:buFont typeface="+mj-lt"/>
              <a:buAutoNum type="arabicParenR"/>
            </a:pPr>
            <a:r>
              <a:rPr lang="en-US" dirty="0" err="1">
                <a:latin typeface="Times New Roman" panose="02020603050405020304" pitchFamily="18" charset="0"/>
                <a:cs typeface="Times New Roman" panose="02020603050405020304" pitchFamily="18" charset="0"/>
              </a:rPr>
              <a:t>Chanda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Jyoshna</a:t>
            </a:r>
            <a:r>
              <a:rPr lang="en-US" dirty="0">
                <a:latin typeface="Times New Roman" panose="02020603050405020304" pitchFamily="18" charset="0"/>
                <a:cs typeface="Times New Roman" panose="02020603050405020304" pitchFamily="18" charset="0"/>
              </a:rPr>
              <a:t>, 2021. Density Based Traffic Control System Using </a:t>
            </a:r>
            <a:r>
              <a:rPr lang="en-US" dirty="0" err="1">
                <a:latin typeface="Times New Roman" panose="02020603050405020304" pitchFamily="18" charset="0"/>
                <a:cs typeface="Times New Roman" panose="02020603050405020304" pitchFamily="18" charset="0"/>
              </a:rPr>
              <a:t>Arduino</a:t>
            </a:r>
            <a:r>
              <a:rPr lang="en-US" dirty="0">
                <a:latin typeface="Times New Roman" panose="02020603050405020304" pitchFamily="18" charset="0"/>
                <a:cs typeface="Times New Roman" panose="02020603050405020304" pitchFamily="18" charset="0"/>
              </a:rPr>
              <a:t>. 10.2319/ssrn.3917889</a:t>
            </a:r>
          </a:p>
          <a:p>
            <a:pPr marL="457200" indent="-457200">
              <a:buFont typeface="+mj-lt"/>
              <a:buAutoNum type="arabicParenR"/>
            </a:pPr>
            <a:r>
              <a:rPr lang="en-US" dirty="0" err="1">
                <a:latin typeface="Times New Roman" panose="02020603050405020304" pitchFamily="18" charset="0"/>
                <a:cs typeface="Times New Roman" panose="02020603050405020304" pitchFamily="18" charset="0"/>
              </a:rPr>
              <a:t>Udoakah</a:t>
            </a:r>
            <a:r>
              <a:rPr lang="en-US" dirty="0">
                <a:latin typeface="Times New Roman" panose="02020603050405020304" pitchFamily="18" charset="0"/>
                <a:cs typeface="Times New Roman" panose="02020603050405020304" pitchFamily="18" charset="0"/>
              </a:rPr>
              <a:t>, Ye-</a:t>
            </a:r>
            <a:r>
              <a:rPr lang="en-US" dirty="0" err="1">
                <a:latin typeface="Times New Roman" panose="02020603050405020304" pitchFamily="18" charset="0"/>
                <a:cs typeface="Times New Roman" panose="02020603050405020304" pitchFamily="18" charset="0"/>
              </a:rPr>
              <a:t>Obong</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Okure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Inimfon-Abasi</a:t>
            </a:r>
            <a:r>
              <a:rPr lang="en-US" dirty="0">
                <a:latin typeface="Times New Roman" panose="02020603050405020304" pitchFamily="18" charset="0"/>
                <a:cs typeface="Times New Roman" panose="02020603050405020304" pitchFamily="18" charset="0"/>
              </a:rPr>
              <a:t>, 2018. Design and implementation of a density-based traffic light control with surveillance system. </a:t>
            </a:r>
            <a:r>
              <a:rPr lang="en-US" i="1" dirty="0">
                <a:latin typeface="Times New Roman" panose="02020603050405020304" pitchFamily="18" charset="0"/>
                <a:cs typeface="Times New Roman" panose="02020603050405020304" pitchFamily="18" charset="0"/>
              </a:rPr>
              <a:t>Nigerian Journal of Technology</a:t>
            </a:r>
            <a:r>
              <a:rPr lang="en-US" dirty="0">
                <a:latin typeface="Times New Roman" panose="02020603050405020304" pitchFamily="18" charset="0"/>
                <a:cs typeface="Times New Roman" panose="02020603050405020304" pitchFamily="18" charset="0"/>
              </a:rPr>
              <a:t>. 36. 1239. 10.4314/njt.v36i4.34.</a:t>
            </a:r>
          </a:p>
          <a:p>
            <a:pPr marL="457200" lvl="0" indent="-457200">
              <a:buFont typeface="+mj-lt"/>
              <a:buAutoNum type="arabicParenR"/>
            </a:pPr>
            <a:endParaRPr lang="en-US" dirty="0">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D34EA82-3CFF-4AE1-A06A-DB5BBD6A65B6}" type="slidenum">
              <a:rPr lang="en-US" smtClean="0"/>
              <a:t>13</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spTree>
    <p:extLst>
      <p:ext uri="{BB962C8B-B14F-4D97-AF65-F5344CB8AC3E}">
        <p14:creationId xmlns:p14="http://schemas.microsoft.com/office/powerpoint/2010/main" val="89385483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DD34EA82-3CFF-4AE1-A06A-DB5BBD6A65B6}" type="slidenum">
              <a:rPr lang="en-US" smtClean="0"/>
              <a:t>14</a:t>
            </a:fld>
            <a:endParaRPr lang="en-US"/>
          </a:p>
        </p:txBody>
      </p:sp>
      <p:sp>
        <p:nvSpPr>
          <p:cNvPr id="4" name="Text Placeholder 3"/>
          <p:cNvSpPr>
            <a:spLocks noGrp="1"/>
          </p:cNvSpPr>
          <p:nvPr>
            <p:ph type="body" sz="half" idx="4294967295"/>
          </p:nvPr>
        </p:nvSpPr>
        <p:spPr>
          <a:xfrm>
            <a:off x="3971494" y="4774887"/>
            <a:ext cx="3985147" cy="1694160"/>
          </a:xfrm>
        </p:spPr>
        <p:txBody>
          <a:bodyPr>
            <a:noAutofit/>
          </a:bodyPr>
          <a:lstStyle/>
          <a:p>
            <a:pPr marL="0" indent="0" algn="ctr">
              <a:buNone/>
            </a:pPr>
            <a:r>
              <a:rPr lang="en-US" sz="4800" dirty="0">
                <a:latin typeface="Times New Roman" panose="02020603050405020304" pitchFamily="18" charset="0"/>
                <a:cs typeface="Times New Roman" panose="02020603050405020304" pitchFamily="18" charset="0"/>
              </a:rPr>
              <a:t>ANY QUESTIONS?</a:t>
            </a:r>
          </a:p>
        </p:txBody>
      </p:sp>
      <p:pic>
        <p:nvPicPr>
          <p:cNvPr id="6" name="Content Placeholder 5"/>
          <p:cNvPicPr>
            <a:picLocks noGrp="1" noChangeAspect="1"/>
          </p:cNvPicPr>
          <p:nvPr>
            <p:ph idx="4294967295"/>
          </p:nvPr>
        </p:nvPicPr>
        <p:blipFill>
          <a:blip r:embed="rId2"/>
          <a:stretch>
            <a:fillRect/>
          </a:stretch>
        </p:blipFill>
        <p:spPr>
          <a:xfrm>
            <a:off x="3657595" y="1666241"/>
            <a:ext cx="4826393" cy="2763309"/>
          </a:xfrm>
          <a:prstGeom prst="rect">
            <a:avLst/>
          </a:prstGeom>
        </p:spPr>
      </p:pic>
      <p:sp>
        <p:nvSpPr>
          <p:cNvPr id="7" name="TextBox 6"/>
          <p:cNvSpPr txBox="1"/>
          <p:nvPr/>
        </p:nvSpPr>
        <p:spPr>
          <a:xfrm>
            <a:off x="1990745" y="612313"/>
            <a:ext cx="8204234" cy="646331"/>
          </a:xfrm>
          <a:prstGeom prst="rect">
            <a:avLst/>
          </a:prstGeom>
          <a:noFill/>
        </p:spPr>
        <p:txBody>
          <a:bodyPr wrap="none" rtlCol="0">
            <a:spAutoFit/>
          </a:bodyPr>
          <a:lstStyle/>
          <a:p>
            <a:pPr algn="ctr"/>
            <a:r>
              <a:rPr lang="en-US" sz="3600" dirty="0">
                <a:latin typeface="Times New Roman" panose="02020603050405020304" pitchFamily="18" charset="0"/>
                <a:cs typeface="Times New Roman" panose="02020603050405020304" pitchFamily="18" charset="0"/>
              </a:rPr>
              <a:t>THANK YOU FOR YOUR ATTENTION</a:t>
            </a: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72297" y="204716"/>
            <a:ext cx="1665027" cy="1665027"/>
          </a:xfrm>
          <a:prstGeom prst="rect">
            <a:avLst/>
          </a:prstGeom>
        </p:spPr>
      </p:pic>
    </p:spTree>
    <p:extLst>
      <p:ext uri="{BB962C8B-B14F-4D97-AF65-F5344CB8AC3E}">
        <p14:creationId xmlns:p14="http://schemas.microsoft.com/office/powerpoint/2010/main" val="21328278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Theme1" id="{925ADA7F-A5D4-449F-9DBD-9804D9F20D42}" vid="{9E3A6FAD-F5D0-456A-904D-2899598631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371</TotalTime>
  <Words>943</Words>
  <Application>Microsoft Office PowerPoint</Application>
  <PresentationFormat>Widescreen</PresentationFormat>
  <Paragraphs>113</Paragraphs>
  <Slides>14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Arial Rounded MT Bold</vt:lpstr>
      <vt:lpstr>Bahnschrift SemiBold SemiConden</vt:lpstr>
      <vt:lpstr>Calibri</vt:lpstr>
      <vt:lpstr>Corbel</vt:lpstr>
      <vt:lpstr>Times New Roman</vt:lpstr>
      <vt:lpstr>Wingdings</vt:lpstr>
      <vt:lpstr>Theme1</vt:lpstr>
      <vt:lpstr>Density Based Traffic Signal Controller</vt:lpstr>
      <vt:lpstr>contents</vt:lpstr>
      <vt:lpstr>Introduction</vt:lpstr>
      <vt:lpstr>Background study</vt:lpstr>
      <vt:lpstr>Research gap</vt:lpstr>
      <vt:lpstr>RESEARCH GAP</vt:lpstr>
      <vt:lpstr>Problem statement</vt:lpstr>
      <vt:lpstr>objectives</vt:lpstr>
      <vt:lpstr>methodology</vt:lpstr>
      <vt:lpstr>methodology</vt:lpstr>
      <vt:lpstr>methodology</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Density Based Traffic Signal Project</dc:title>
  <dc:creator>Rahbar Tawsif</dc:creator>
  <cp:lastModifiedBy>Shanjida Afrin</cp:lastModifiedBy>
  <cp:revision>37</cp:revision>
  <dcterms:created xsi:type="dcterms:W3CDTF">2022-10-20T15:14:22Z</dcterms:created>
  <dcterms:modified xsi:type="dcterms:W3CDTF">2025-05-01T10:42:12Z</dcterms:modified>
</cp:coreProperties>
</file>